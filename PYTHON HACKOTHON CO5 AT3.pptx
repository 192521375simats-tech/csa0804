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6" r:id="rId7"/>
    <p:sldId id="269" r:id="rId8"/>
    <p:sldId id="276" r:id="rId9"/>
    <p:sldId id="277" r:id="rId10"/>
    <p:sldId id="274" r:id="rId11"/>
    <p:sldId id="275" r:id="rId12"/>
    <p:sldId id="273" r:id="rId13"/>
    <p:sldId id="272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B3301-D28F-4355-8C1D-9D29C908BEFC}" v="3" dt="2026-08-30T06:03:34.1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. Sivarangjenii" userId="6a1ad3bd27ff0c4f" providerId="LiveId" clId="{C5D502D5-499E-41D2-909C-CF4C9B8B2576}"/>
    <pc:docChg chg="custSel modSld">
      <pc:chgData name="B. Sivarangjenii" userId="6a1ad3bd27ff0c4f" providerId="LiveId" clId="{C5D502D5-499E-41D2-909C-CF4C9B8B2576}" dt="2026-08-30T06:03:35.077" v="19" actId="20577"/>
      <pc:docMkLst>
        <pc:docMk/>
      </pc:docMkLst>
      <pc:sldChg chg="modSp mod">
        <pc:chgData name="B. Sivarangjenii" userId="6a1ad3bd27ff0c4f" providerId="LiveId" clId="{C5D502D5-499E-41D2-909C-CF4C9B8B2576}" dt="2026-08-30T06:03:35.077" v="19" actId="20577"/>
        <pc:sldMkLst>
          <pc:docMk/>
          <pc:sldMk cId="0" sldId="266"/>
        </pc:sldMkLst>
        <pc:spChg chg="mod">
          <ac:chgData name="B. Sivarangjenii" userId="6a1ad3bd27ff0c4f" providerId="LiveId" clId="{C5D502D5-499E-41D2-909C-CF4C9B8B2576}" dt="2026-08-30T06:03:35.077" v="19" actId="2057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B. Sivarangjenii" userId="6a1ad3bd27ff0c4f" providerId="LiveId" clId="{C5D502D5-499E-41D2-909C-CF4C9B8B2576}" dt="2026-08-30T06:03:25.200" v="15" actId="20577"/>
        <pc:sldMkLst>
          <pc:docMk/>
          <pc:sldMk cId="0" sldId="269"/>
        </pc:sldMkLst>
        <pc:spChg chg="mod">
          <ac:chgData name="B. Sivarangjenii" userId="6a1ad3bd27ff0c4f" providerId="LiveId" clId="{C5D502D5-499E-41D2-909C-CF4C9B8B2576}" dt="2026-08-30T06:03:25.200" v="15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B. Sivarangjenii" userId="6a1ad3bd27ff0c4f" providerId="LiveId" clId="{C5D502D5-499E-41D2-909C-CF4C9B8B2576}" dt="2026-08-30T06:03:15.143" v="10"/>
        <pc:sldMkLst>
          <pc:docMk/>
          <pc:sldMk cId="2310612582" sldId="276"/>
        </pc:sldMkLst>
        <pc:spChg chg="mod">
          <ac:chgData name="B. Sivarangjenii" userId="6a1ad3bd27ff0c4f" providerId="LiveId" clId="{C5D502D5-499E-41D2-909C-CF4C9B8B2576}" dt="2026-08-30T06:03:15.143" v="10"/>
          <ac:spMkLst>
            <pc:docMk/>
            <pc:sldMk cId="2310612582" sldId="276"/>
            <ac:spMk id="2" creationId="{B7883015-217E-8D35-C0AF-E4A2C066F0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7530" y="-241038"/>
            <a:ext cx="9441561" cy="1369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282141"/>
            <a:ext cx="10132060" cy="4558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1328157"/>
            <a:ext cx="8534400" cy="139820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635" algn="ctr">
              <a:lnSpc>
                <a:spcPct val="90000"/>
              </a:lnSpc>
              <a:spcBef>
                <a:spcPts val="535"/>
              </a:spcBef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LEARNQUEST: GAMIFIED &amp; OFFLINE-FIRST LEARNING PLATFORM FOR RURAL STUDENTS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51766" y="5139998"/>
            <a:ext cx="3719195" cy="159973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BY:</a:t>
            </a:r>
            <a:endParaRPr lang="en-IN" sz="2400" b="1" spc="-25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lang="en-IN" sz="2000" spc="-25" dirty="0">
                <a:solidFill>
                  <a:schemeClr val="tx1"/>
                </a:solidFill>
                <a:latin typeface="Times New Roman"/>
                <a:cs typeface="Times New Roman"/>
              </a:rPr>
              <a:t>PRANATHI L(192365049)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lang="en-IN" sz="2000" spc="-25" dirty="0">
                <a:solidFill>
                  <a:schemeClr val="tx1"/>
                </a:solidFill>
                <a:latin typeface="Times New Roman"/>
                <a:cs typeface="Times New Roman"/>
              </a:rPr>
              <a:t>MANASVI(192425084)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5080" algn="ctr">
              <a:lnSpc>
                <a:spcPct val="121700"/>
              </a:lnSpc>
              <a:spcBef>
                <a:spcPts val="10"/>
              </a:spcBef>
            </a:pPr>
            <a:r>
              <a:rPr sz="2000" spc="-30" dirty="0">
                <a:latin typeface="Times New Roman"/>
                <a:cs typeface="Times New Roman"/>
              </a:rPr>
              <a:t>SIVARANGJENII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B</a:t>
            </a:r>
            <a:r>
              <a:rPr sz="2000" spc="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192521375)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5558938"/>
            <a:ext cx="36601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GUIDANCE:</a:t>
            </a:r>
            <a:endParaRPr sz="2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DR</a:t>
            </a:r>
            <a:r>
              <a:rPr lang="en-US" sz="2400" spc="-10" dirty="0">
                <a:latin typeface="Times New Roman"/>
                <a:cs typeface="Times New Roman"/>
              </a:rPr>
              <a:t>.JEGATHEESAN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2200" y="2892560"/>
            <a:ext cx="860577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highlight>
                  <a:srgbClr val="FF00FF"/>
                </a:highlight>
                <a:latin typeface="Times New Roman"/>
                <a:cs typeface="Times New Roman"/>
              </a:rPr>
              <a:t>PYTHON PROGRAMMING </a:t>
            </a:r>
            <a:r>
              <a:rPr sz="3200" dirty="0">
                <a:highlight>
                  <a:srgbClr val="FF00FF"/>
                </a:highlight>
                <a:latin typeface="Times New Roman"/>
                <a:cs typeface="Times New Roman"/>
              </a:rPr>
              <a:t>–</a:t>
            </a:r>
            <a:r>
              <a:rPr sz="3200" spc="-5" dirty="0">
                <a:highlight>
                  <a:srgbClr val="FF00FF"/>
                </a:highlight>
                <a:latin typeface="Times New Roman"/>
                <a:cs typeface="Times New Roman"/>
              </a:rPr>
              <a:t> </a:t>
            </a:r>
            <a:r>
              <a:rPr sz="3200" spc="-10" dirty="0">
                <a:highlight>
                  <a:srgbClr val="FF00FF"/>
                </a:highlight>
                <a:latin typeface="Times New Roman"/>
                <a:cs typeface="Times New Roman"/>
              </a:rPr>
              <a:t>CSA</a:t>
            </a:r>
            <a:r>
              <a:rPr lang="en-US" sz="3200" spc="-10" dirty="0">
                <a:highlight>
                  <a:srgbClr val="FF00FF"/>
                </a:highlight>
                <a:latin typeface="Times New Roman"/>
                <a:cs typeface="Times New Roman"/>
              </a:rPr>
              <a:t>0804/SLOT D</a:t>
            </a:r>
            <a:endParaRPr sz="3200" dirty="0">
              <a:highlight>
                <a:srgbClr val="FF00FF"/>
              </a:highlight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1104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514CD3-38D0-E458-1A07-3552B56E3A8C}"/>
              </a:ext>
            </a:extLst>
          </p:cNvPr>
          <p:cNvSpPr txBox="1"/>
          <p:nvPr/>
        </p:nvSpPr>
        <p:spPr>
          <a:xfrm>
            <a:off x="2632699" y="3657600"/>
            <a:ext cx="81115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EdTech / Digital Learning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Flask/Django, HTML, CSS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Tagline: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Learn. Play. Progress. Anywhere.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3543" y="-435001"/>
            <a:ext cx="9441561" cy="1262081"/>
          </a:xfrm>
          <a:prstGeom prst="rect">
            <a:avLst/>
          </a:prstGeom>
        </p:spPr>
        <p:txBody>
          <a:bodyPr vert="horz" wrap="square" lIns="0" tIns="640275" rIns="0" bIns="0" rtlCol="0">
            <a:spAutoFit/>
          </a:bodyPr>
          <a:lstStyle/>
          <a:p>
            <a:pPr marL="1872614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 </a:t>
            </a:r>
            <a:r>
              <a:rPr dirty="0"/>
              <a:t>PROBLEM</a:t>
            </a:r>
            <a:r>
              <a:rPr spc="-25" dirty="0"/>
              <a:t> </a:t>
            </a:r>
            <a:r>
              <a:rPr spc="-6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0510" y="1524000"/>
            <a:ext cx="10224846" cy="5723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IN DIGITAL LEARNING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students often face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or limited internet connectivity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platforms can become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boring and less engaging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have limited tools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learning progress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focus on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rather than improvement and consistency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10" y="98399"/>
            <a:ext cx="1039900" cy="892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98399"/>
            <a:ext cx="1294517" cy="892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4023" y="-304800"/>
            <a:ext cx="9441561" cy="1215966"/>
          </a:xfrm>
          <a:prstGeom prst="rect">
            <a:avLst/>
          </a:prstGeom>
        </p:spPr>
        <p:txBody>
          <a:bodyPr vert="horz" wrap="square" lIns="0" tIns="594606" rIns="0" bIns="0" rtlCol="0">
            <a:spAutoFit/>
          </a:bodyPr>
          <a:lstStyle/>
          <a:p>
            <a:pPr marL="3096895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 SOLUTION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00200" y="1139893"/>
            <a:ext cx="9405620" cy="64108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LEARNQUEST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modules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text, videos and interactive quizzes.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XP, levels, badges and challenges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motivate continuous learning.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low-bandwidth and offline-friendly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learning content.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teachers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performance insights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intervention. </a:t>
            </a:r>
          </a:p>
          <a:p>
            <a:pPr marL="239395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701164" algn="l"/>
                <a:tab pos="3318510" algn="l"/>
                <a:tab pos="5013325" algn="l"/>
                <a:tab pos="6354445" algn="l"/>
                <a:tab pos="8068945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113898"/>
            <a:ext cx="1039901" cy="8767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18719"/>
            <a:ext cx="1294517" cy="871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52763"/>
            <a:ext cx="5257801" cy="794902"/>
          </a:xfrm>
          <a:prstGeom prst="rect">
            <a:avLst/>
          </a:prstGeom>
        </p:spPr>
        <p:txBody>
          <a:bodyPr vert="horz" wrap="square" lIns="0" tIns="177614" rIns="0" bIns="0" rtlCol="0">
            <a:spAutoFit/>
          </a:bodyPr>
          <a:lstStyle/>
          <a:p>
            <a:pPr marL="2034539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</a:t>
            </a:r>
            <a:r>
              <a:rPr lang="en-US" spc="-10" dirty="0"/>
              <a:t>ORKING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105726" y="42603"/>
            <a:ext cx="12041505" cy="1075690"/>
            <a:chOff x="150609" y="98399"/>
            <a:chExt cx="12041505" cy="1075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609" y="98399"/>
              <a:ext cx="1039901" cy="10345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9" y="139039"/>
              <a:ext cx="1524000" cy="103456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CB08E2-A082-825A-0252-1FC9C077D3C7}"/>
              </a:ext>
            </a:extLst>
          </p:cNvPr>
          <p:cNvSpPr txBox="1"/>
          <p:nvPr/>
        </p:nvSpPr>
        <p:spPr>
          <a:xfrm>
            <a:off x="1122074" y="1147576"/>
            <a:ext cx="10589173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LEARNING JOURNEY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access subject-wise lessons and educational content.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quizzes help students test their understanding.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gain XP, badges and levels through learning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 analytics identify weak areas and encourage revision. </a:t>
            </a:r>
          </a:p>
          <a:p>
            <a:pPr algn="l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FLOW:</a:t>
            </a:r>
            <a:b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→ Practice → Earn → Improve →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52213" y="108559"/>
            <a:ext cx="9487574" cy="790208"/>
          </a:xfrm>
          <a:prstGeom prst="rect">
            <a:avLst/>
          </a:prstGeom>
        </p:spPr>
        <p:txBody>
          <a:bodyPr vert="horz" wrap="square" lIns="0" tIns="198366" rIns="0" bIns="0" rtlCol="0">
            <a:spAutoFit/>
          </a:bodyPr>
          <a:lstStyle/>
          <a:p>
            <a:pPr marL="94615" algn="ctr">
              <a:lnSpc>
                <a:spcPts val="4560"/>
              </a:lnSpc>
              <a:spcBef>
                <a:spcPts val="95"/>
              </a:spcBef>
            </a:pPr>
            <a:r>
              <a:rPr lang="en-US" spc="-50" dirty="0"/>
              <a:t>GAMIFICATION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9" y="108559"/>
            <a:ext cx="1108131" cy="10244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958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BE795-CA96-7DB5-1462-CCA400A04040}"/>
              </a:ext>
            </a:extLst>
          </p:cNvPr>
          <p:cNvSpPr txBox="1"/>
          <p:nvPr/>
        </p:nvSpPr>
        <p:spPr>
          <a:xfrm>
            <a:off x="533400" y="1464817"/>
            <a:ext cx="111252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TURNING LEARNING INTO A GAME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earn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Points (XP)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completing meaningful learning activities.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and badges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visible milestones and achievements.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Streaks and challenges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students to maintain regular learning habits.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leaderboard categories reward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improvement and consistency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8184" y="108559"/>
            <a:ext cx="9407080" cy="1195198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MODULE 1</a:t>
            </a:r>
            <a:br>
              <a:rPr lang="en-IN" spc="-50" dirty="0"/>
            </a:br>
            <a:endParaRPr lang="en-IN" sz="3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30C4BA-D073-E5DC-DDA8-CF9F229D2045}"/>
              </a:ext>
            </a:extLst>
          </p:cNvPr>
          <p:cNvSpPr txBox="1"/>
          <p:nvPr/>
        </p:nvSpPr>
        <p:spPr>
          <a:xfrm>
            <a:off x="901042" y="990600"/>
            <a:ext cx="10591800" cy="6273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GROWTH-BASED LEADERBOARD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leaderboards mainly reward students with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marks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LearnQuest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recognizes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show significant improvement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recognition can be given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Performer, Most Improved and Most Consistent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inclusive competition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every student has a reason to participate.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9810" y="292186"/>
            <a:ext cx="89486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885" algn="ctr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MODULE 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892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7483" y="29158"/>
            <a:ext cx="1294517" cy="892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0C9FC2-3125-3469-6FE4-D2040AEEB35B}"/>
              </a:ext>
            </a:extLst>
          </p:cNvPr>
          <p:cNvSpPr txBox="1"/>
          <p:nvPr/>
        </p:nvSpPr>
        <p:spPr>
          <a:xfrm>
            <a:off x="609600" y="1201661"/>
            <a:ext cx="115824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EVEN WHEN THE INTERNET DOESN'T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pages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text-first content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data consumption.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lessons and quizzes can be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cached for offline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activities can be stored locally when the connection is unavailable. 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is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with the server when connectivity returns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FLOW: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→ Download → Offline Learning → Local Progress → Reconnect → Sync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5CE2-4B37-6FEF-76E9-660C3F40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7883015-217E-8D35-C0AF-E4A2C066F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03" y="0"/>
            <a:ext cx="9407080" cy="733533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>
                <a:latin typeface="Times New Roman"/>
                <a:cs typeface="Times New Roman"/>
              </a:rPr>
              <a:t>MODULE 3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994B80B-3216-9BEB-CD31-C8F69C0485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89220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D6644AF-D525-8DC1-393B-5E727CD781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7483" y="5080"/>
            <a:ext cx="1294517" cy="98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15722-33B3-71A7-1C02-613E85441E2E}"/>
              </a:ext>
            </a:extLst>
          </p:cNvPr>
          <p:cNvSpPr txBox="1"/>
          <p:nvPr/>
        </p:nvSpPr>
        <p:spPr>
          <a:xfrm>
            <a:off x="990600" y="1447800"/>
            <a:ext cx="10591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MARKS TO MEANINGFUL INSIGHTS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monitor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class-level performance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and module analytics help identify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learning topics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track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scores, completion rates and engagement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reports support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revision and academic intervention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61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4CEA-8A76-4E16-8E4C-BECEA5C9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F932691-8724-AC89-76CA-D865FC962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25400"/>
            <a:ext cx="10208564" cy="790336"/>
          </a:xfrm>
          <a:prstGeom prst="rect">
            <a:avLst/>
          </a:prstGeom>
        </p:spPr>
        <p:txBody>
          <a:bodyPr vert="horz" wrap="square" lIns="0" tIns="173093" rIns="0" bIns="0" rtlCol="0">
            <a:spAutoFit/>
          </a:bodyPr>
          <a:lstStyle/>
          <a:p>
            <a:pPr marL="3098800" algn="l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SYSTEM ARCHITECTURE</a:t>
            </a:r>
            <a:endParaRPr spc="-1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513B956-6C0C-9CEB-AE24-C64945AED9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9" y="0"/>
            <a:ext cx="1039901" cy="790336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7CD4E52-A7BC-8215-44E4-31DEED1CE3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3043" y="-15240"/>
            <a:ext cx="1294517" cy="805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15A229-255B-2656-7786-B1AE4964B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81" y="764936"/>
            <a:ext cx="9918304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1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8966-1D82-33BF-B76E-13752D7E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C8AC37F-B3EF-113B-2132-D1D161463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7045" y="39319"/>
            <a:ext cx="9407080" cy="733533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KEY FEATURES</a:t>
            </a: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9561EF-B070-DEDA-B7A4-9CBA0CB7E5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" y="24079"/>
            <a:ext cx="1039901" cy="73353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195720B3-F209-E937-A1E5-27FF45B52A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125" y="24079"/>
            <a:ext cx="1294517" cy="882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DBFAAF-A75F-2099-B1E1-87ECF695927D}"/>
              </a:ext>
            </a:extLst>
          </p:cNvPr>
          <p:cNvSpPr txBox="1"/>
          <p:nvPr/>
        </p:nvSpPr>
        <p:spPr>
          <a:xfrm>
            <a:off x="959903" y="1371600"/>
            <a:ext cx="10591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PLATFORM, COMPLETE LEARNING EXPERIENCE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Learning: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Modules, text and videos organized by subject.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Assessment: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Quizzes with instant results and feedback.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Progress: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XP, levels, badges, streaks and leaderboards.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Monitoring: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progress and teacher performance dashboards. </a:t>
            </a:r>
          </a:p>
          <a:p>
            <a:pPr marL="457200" lvl="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42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FD99-064E-0D53-16EF-82B854F3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2D8C54E-9AA0-EA7B-5FF2-994DC21FFD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1"/>
            <a:ext cx="9407080" cy="1195198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EXPECTED IMPACT</a:t>
            </a:r>
            <a:br>
              <a:rPr lang="en-IN" spc="-50" dirty="0"/>
            </a:br>
            <a:endParaRPr lang="en-IN" sz="30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B906B90-BC01-731D-6017-EBB3D287A0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1A03CE09-F405-3A13-4A33-4EAE4E63B9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D8C3AC-92A8-9A23-A5B6-D514459CBB0B}"/>
              </a:ext>
            </a:extLst>
          </p:cNvPr>
          <p:cNvSpPr txBox="1"/>
          <p:nvPr/>
        </p:nvSpPr>
        <p:spPr>
          <a:xfrm>
            <a:off x="762000" y="1447800"/>
            <a:ext cx="10730842" cy="541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MORE INCLUSIVE DIGITAL EDUCATION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engagement, motivation and consistent learning.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identification of weak areas and better progress monitoring.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Communities: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dependence on continuous high-speed internet.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System: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Data-supported learning with greater accessibility and participation.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69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5354" y="98399"/>
            <a:ext cx="9321291" cy="779513"/>
          </a:xfrm>
          <a:prstGeom prst="rect">
            <a:avLst/>
          </a:prstGeom>
        </p:spPr>
        <p:txBody>
          <a:bodyPr vert="horz" wrap="square" lIns="0" tIns="162374" rIns="0" bIns="0" rtlCol="0">
            <a:spAutoFit/>
          </a:bodyPr>
          <a:lstStyle/>
          <a:p>
            <a:pPr marL="2756535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562" y="1371600"/>
            <a:ext cx="10591800" cy="572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lessons based on individual performance.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local-language learning for wider accessibility.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Quizzes: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adjust question difficulty based on student progress.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Voice Learning: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integration of AI tutoring and voice-based educational support.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1600" y="108559"/>
            <a:ext cx="9397491" cy="790336"/>
          </a:xfrm>
          <a:prstGeom prst="rect">
            <a:avLst/>
          </a:prstGeom>
        </p:spPr>
        <p:txBody>
          <a:bodyPr vert="horz" wrap="square" lIns="0" tIns="173093" rIns="0" bIns="0" rtlCol="0">
            <a:spAutoFit/>
          </a:bodyPr>
          <a:lstStyle/>
          <a:p>
            <a:pPr marL="30988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718" y="1127627"/>
            <a:ext cx="10208564" cy="6453177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LearnQuest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education, gamification, analytics and accessibility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transforms learning from a passive activity into 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journey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offline-first approach makes digital education more suitable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low-connectivity environments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 is to make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quality, engaging and measurable learning accessible to every student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0665" algn="just">
              <a:lnSpc>
                <a:spcPct val="150000"/>
              </a:lnSpc>
              <a:spcBef>
                <a:spcPts val="110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652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MT</vt:lpstr>
      <vt:lpstr>Times New Roman</vt:lpstr>
      <vt:lpstr>Office Theme</vt:lpstr>
      <vt:lpstr>LEARNQUEST: GAMIFIED &amp; OFFLINE-FIRST LEARNING PLATFORM FOR RURAL STUDENTS</vt:lpstr>
      <vt:lpstr> PROBLEM STATEMENT</vt:lpstr>
      <vt:lpstr> SOLUTION</vt:lpstr>
      <vt:lpstr>WORKING</vt:lpstr>
      <vt:lpstr>GAMIFICATION</vt:lpstr>
      <vt:lpstr>MODULE 1 </vt:lpstr>
      <vt:lpstr>MODULE 2</vt:lpstr>
      <vt:lpstr>MODULE 3</vt:lpstr>
      <vt:lpstr>SYSTEM ARCHITECTURE</vt:lpstr>
      <vt:lpstr>KEY FEATURES</vt:lpstr>
      <vt:lpstr>EXPECTED IMPACT 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B. Sivarangjenii</dc:creator>
  <cp:lastModifiedBy>B. Sivarangjenii</cp:lastModifiedBy>
  <cp:revision>4</cp:revision>
  <dcterms:created xsi:type="dcterms:W3CDTF">2026-08-24T05:56:06Z</dcterms:created>
  <dcterms:modified xsi:type="dcterms:W3CDTF">2026-08-30T06:03:39Z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2026-08-24T00:00:00Z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2026-08-24T00:00:00Z</vt:filetime>
  </property>
  <property fmtid="{D5CDD505-2E9C-101B-9397-08002B2CF9AE}" pid="6" name="Producer">
    <vt:lpwstr>Microsoft® PowerPoint® 2024</vt:lpwstr>
  </property>
</Properties>
</file>